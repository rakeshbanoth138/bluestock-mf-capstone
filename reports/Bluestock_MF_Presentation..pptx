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5B96-9CFE-464D-83C0-E961ECC5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38CC9-4BD6-648A-68FA-4FC43BB8C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C0303-88F8-72B2-A9BA-862222D12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9AFC3-92A8-B35C-E7B8-0BE4ADDD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292DB-12EA-7AAE-C626-C1B05B88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63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1F67-798D-9195-8BA2-A25E3C15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FFA5-7A92-8DED-A109-2BEEFD83F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893A-743E-612D-44B8-1463CE4D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9ED73-5609-616E-F853-D5C18247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AA4EB-0FF5-8FE7-621F-9F0DAEBD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37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3782-84ED-C3EB-F83D-9A405B568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490E8-F8E7-A8E9-8BE9-5CCB0128A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0081-6D6D-B6F7-C87E-D6BCC575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33C20-7922-9A61-C512-FA80C3D6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10EEE-F6EC-9FAD-6E93-C4677491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490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46F8-76D2-18C7-7041-7E62A620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F82E-3512-36BF-458A-52D63C522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94E7B-6D4F-BDD6-4C1D-13F680DCA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9CF0F-24B8-D032-8A8D-99B4A917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0E4D3-6824-BF8E-E29D-9444F1F5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D8C9F-2438-A5A2-E7C8-E14791F7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4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4A91-3098-30D1-3F72-2004A6F6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E9A1F-3102-F876-BD9B-5669767BB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E1744-BDF7-6885-88DC-E19F5FF9A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0250D-E74B-4728-7A75-DA9D698FBD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77259-3946-09D2-8EF9-E489496EE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AE9BA-ACF6-2BAB-A49B-FCCC976C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F0BAD-0410-4AEC-6552-3FE94B1A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8A721A-15FF-01A1-2FA8-B6B43A9B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BEAE-E01C-345D-746D-017D35900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E9FC8-187D-0FC0-8D96-DDE3484B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373BE-57B6-374D-F5A9-F99322C4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BB3E3-9870-66F8-005D-D7EAD83C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460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FDFD0-8D3B-BFE7-938D-C05D5938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184F4-777C-BF0D-B71B-3E4FB233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19777-E806-FD4D-A879-B170C401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655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565D-768A-DC7D-2D8F-74CCF5E8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3E6E-D781-851A-459F-A5628538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DAD24-3A8E-09C2-3366-016D33472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33D1D-5EF6-6860-824A-5D750106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FCD12-C408-8D3C-230E-EA13CC06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65052-FECD-2180-7222-226CFA42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4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3E83-C256-A3FA-C0D3-82C67C49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95EB9-5676-848E-125E-41A82FDFF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33694-AB3D-BDBD-3E62-6E3C6BBF1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C536A-82A3-A676-6750-8FBC4250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3F87C-68B9-7494-31B6-CD65D751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FBCEF-4811-3D95-FCA0-42FB9324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23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2D1F-5077-7D1C-ECDC-BD77E435F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45277-D2C5-3127-1085-9922DE189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F5871-27BD-4234-9AF0-0F515742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90330-0CB3-6F3C-E58C-46BCA2BE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E4669-A22D-25A5-1F3C-1572548D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18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E62526-5D6A-3169-D551-CEAAFA3CC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69EAA-352E-4425-E7DC-B8A1958D6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17729-07EB-994E-8059-7C5CFFA6A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33853-91E4-A22D-80BF-EA56E278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61E24-942B-9DCE-5725-175AFC6C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62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E6855-C3F7-2142-1238-6750310D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B08E6-B372-F487-0830-75C4176E5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DB407-0B9B-5F9F-9C4E-6EBBBE327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55B3B-BAD9-48CD-AA20-FD893C97A7B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D133F-2996-01B4-3C91-F5E6CFCF4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E52A4-33D8-6DD3-F16B-5BDB47FFC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96491-EB94-48D0-8DBE-37CEA4856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09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9332-D972-AC21-6220-7E199512EF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BLUESTOCK MUTUAL FUND ANALYTICS CAPSTONE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619DC-E009-B294-1351-F43BC83DA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0332" y="5100638"/>
            <a:ext cx="2607735" cy="1655762"/>
          </a:xfrm>
        </p:spPr>
        <p:txBody>
          <a:bodyPr>
            <a:normAutofit/>
          </a:bodyPr>
          <a:lstStyle/>
          <a:p>
            <a:r>
              <a:rPr lang="en-US" b="1" dirty="0"/>
              <a:t>Prepared By</a:t>
            </a:r>
          </a:p>
          <a:p>
            <a:r>
              <a:rPr lang="en-US" b="1" dirty="0"/>
              <a:t>Banoth Rakesh</a:t>
            </a:r>
          </a:p>
          <a:p>
            <a:r>
              <a:rPr lang="en-US" b="1" dirty="0"/>
              <a:t>June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7219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7837-10FE-66BC-CFA4-47D8B5CA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DDCF3-1EE8-0269-F50F-A0B49B308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600" b="1" dirty="0"/>
              <a:t>Problem Statement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Investors face challenges in selecting mutual funds due to the large number of schemes and varying performance metrics.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Objectives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Build ETL pipeline</a:t>
            </a:r>
          </a:p>
          <a:p>
            <a:r>
              <a:rPr lang="en-IN" dirty="0"/>
              <a:t>Clean data</a:t>
            </a:r>
          </a:p>
          <a:p>
            <a:r>
              <a:rPr lang="en-IN" dirty="0"/>
              <a:t>Perform EDA</a:t>
            </a:r>
          </a:p>
          <a:p>
            <a:r>
              <a:rPr lang="en-IN" dirty="0" err="1"/>
              <a:t>Analyze</a:t>
            </a:r>
            <a:r>
              <a:rPr lang="en-IN" dirty="0"/>
              <a:t> performance</a:t>
            </a:r>
          </a:p>
          <a:p>
            <a:r>
              <a:rPr lang="en-IN" dirty="0"/>
              <a:t>Calculate Sharpe Ratio</a:t>
            </a:r>
          </a:p>
          <a:p>
            <a:r>
              <a:rPr lang="en-IN" dirty="0"/>
              <a:t>Calculate </a:t>
            </a:r>
            <a:r>
              <a:rPr lang="en-IN" dirty="0" err="1"/>
              <a:t>VaR</a:t>
            </a:r>
            <a:r>
              <a:rPr lang="en-IN" dirty="0"/>
              <a:t> &amp; CVaR</a:t>
            </a:r>
          </a:p>
          <a:p>
            <a:r>
              <a:rPr lang="en-IN" dirty="0"/>
              <a:t>Build recommendation engine</a:t>
            </a:r>
          </a:p>
          <a:p>
            <a:r>
              <a:rPr lang="en-IN" dirty="0"/>
              <a:t>Create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80700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EEE5-775D-4410-9DC3-3469D9A9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DD5DB-C1B7-E805-6327-C357F591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• Mutual Fund Master Data</a:t>
            </a:r>
          </a:p>
          <a:p>
            <a:pPr marL="0" indent="0">
              <a:buNone/>
            </a:pPr>
            <a:r>
              <a:rPr lang="en-US" sz="1500" dirty="0"/>
              <a:t>• NAV History Data</a:t>
            </a:r>
          </a:p>
          <a:p>
            <a:pPr marL="0" indent="0">
              <a:buNone/>
            </a:pPr>
            <a:r>
              <a:rPr lang="en-US" sz="1500" dirty="0"/>
              <a:t>• Benchmark Data</a:t>
            </a:r>
          </a:p>
          <a:p>
            <a:pPr marL="0" indent="0">
              <a:buNone/>
            </a:pPr>
            <a:r>
              <a:rPr lang="en-US" sz="1500" dirty="0"/>
              <a:t>• Investor Data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800" b="1" dirty="0"/>
              <a:t>Key Fields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• Fund Name</a:t>
            </a:r>
          </a:p>
          <a:p>
            <a:pPr marL="0" indent="0">
              <a:buNone/>
            </a:pPr>
            <a:r>
              <a:rPr lang="en-US" sz="1500" dirty="0"/>
              <a:t>• Category</a:t>
            </a:r>
          </a:p>
          <a:p>
            <a:pPr marL="0" indent="0">
              <a:buNone/>
            </a:pPr>
            <a:r>
              <a:rPr lang="en-US" sz="1500" dirty="0"/>
              <a:t>• NAV</a:t>
            </a:r>
          </a:p>
          <a:p>
            <a:pPr marL="0" indent="0">
              <a:buNone/>
            </a:pPr>
            <a:r>
              <a:rPr lang="en-US" sz="1500" dirty="0"/>
              <a:t>• Returns</a:t>
            </a:r>
          </a:p>
          <a:p>
            <a:pPr marL="0" indent="0">
              <a:buNone/>
            </a:pPr>
            <a:r>
              <a:rPr lang="en-US" sz="1500" dirty="0"/>
              <a:t>• Risk Metrics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868163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3341-7431-54EB-A5DC-97785CA8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ETL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6924-3BE4-85EE-B14A-84EBF63B9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dirty="0"/>
              <a:t>Raw Data</a:t>
            </a:r>
          </a:p>
          <a:p>
            <a:pPr marL="0" indent="0">
              <a:buNone/>
            </a:pPr>
            <a:r>
              <a:rPr lang="en-IN" sz="1500" dirty="0"/>
              <a:t>    |</a:t>
            </a:r>
          </a:p>
          <a:p>
            <a:pPr marL="0" indent="0">
              <a:buNone/>
            </a:pPr>
            <a:r>
              <a:rPr lang="en-IN" sz="1500" dirty="0"/>
              <a:t>Data Cleaning</a:t>
            </a:r>
          </a:p>
          <a:p>
            <a:pPr marL="0" indent="0">
              <a:buNone/>
            </a:pPr>
            <a:r>
              <a:rPr lang="en-IN" sz="1500" dirty="0"/>
              <a:t>    |</a:t>
            </a:r>
          </a:p>
          <a:p>
            <a:pPr marL="0" indent="0">
              <a:buNone/>
            </a:pPr>
            <a:r>
              <a:rPr lang="en-IN" sz="1500" dirty="0"/>
              <a:t>Data Transformation</a:t>
            </a:r>
          </a:p>
          <a:p>
            <a:pPr marL="0" indent="0">
              <a:buNone/>
            </a:pPr>
            <a:r>
              <a:rPr lang="en-IN" sz="1500" dirty="0"/>
              <a:t>    |</a:t>
            </a:r>
          </a:p>
          <a:p>
            <a:pPr marL="0" indent="0">
              <a:buNone/>
            </a:pPr>
            <a:r>
              <a:rPr lang="en-IN" sz="1500" dirty="0"/>
              <a:t>SQLite Database</a:t>
            </a:r>
          </a:p>
          <a:p>
            <a:pPr marL="0" indent="0">
              <a:buNone/>
            </a:pPr>
            <a:r>
              <a:rPr lang="en-IN" sz="1500" dirty="0"/>
              <a:t>    |</a:t>
            </a:r>
          </a:p>
          <a:p>
            <a:pPr marL="0" indent="0">
              <a:buNone/>
            </a:pPr>
            <a:r>
              <a:rPr lang="en-IN" sz="1500" dirty="0"/>
              <a:t>Analytics</a:t>
            </a:r>
          </a:p>
          <a:p>
            <a:pPr marL="0" indent="0">
              <a:buNone/>
            </a:pPr>
            <a:r>
              <a:rPr lang="en-IN" sz="1500" dirty="0"/>
              <a:t>    |</a:t>
            </a:r>
          </a:p>
          <a:p>
            <a:pPr marL="0" indent="0">
              <a:buNone/>
            </a:pPr>
            <a:r>
              <a:rPr lang="en-IN" sz="1500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01739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5F5B-B78C-FBE3-CF68-BBC3C019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800" b="1" dirty="0">
                <a:latin typeface="+mn-lt"/>
              </a:rPr>
              <a:t>EDA Highlights - Industry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DCECD5-9ED6-3738-8C45-C61DB038C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51" y="1930400"/>
            <a:ext cx="10423215" cy="42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9B54-E436-6C00-8E53-791D2F8D8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EDA Highlights - Investor Analytics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2790D3-5A0A-62F4-4B23-446610FB7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68" y="1690688"/>
            <a:ext cx="10075332" cy="462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6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0D1F-A3D0-D7CD-2AF8-7145F791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Performance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A71721-A415-B2A7-1335-907DB5740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54" y="1534160"/>
            <a:ext cx="10922246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32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2AC6-0BA0-1404-F92C-DE98D325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4800" b="1" dirty="0">
                <a:latin typeface="+mn-lt"/>
              </a:rPr>
              <a:t>Risk Analysis - Sharpe Ratio, VaR &amp; CVaR</a:t>
            </a:r>
            <a:endParaRPr lang="en-IN" sz="48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B0CE06-4942-68EF-ADF6-27129A17C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15533"/>
            <a:ext cx="10515599" cy="497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02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11A0-76BC-D92C-8AE2-957B8018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+mn-lt"/>
              </a:rPr>
              <a:t>Power BI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F4CCA5-017B-937F-757A-EC9D4FDE7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507067"/>
            <a:ext cx="10778066" cy="498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4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7D-ABD9-CACC-F08B-7CC70D24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Dashboard Analytics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4C0B76-8F64-4A26-84B1-6D233A39B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" y="1524000"/>
            <a:ext cx="10703560" cy="46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19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BBB6-EE7D-A5E1-4947-541BE818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FFFE-A7E9-2D63-1CC5-86A7E544A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• Equity funds generated higher returns.</a:t>
            </a:r>
          </a:p>
          <a:p>
            <a:pPr marL="0" indent="0">
              <a:buNone/>
            </a:pPr>
            <a:r>
              <a:rPr lang="en-US" sz="1500" dirty="0"/>
              <a:t>• Debt funds provided stable performance.</a:t>
            </a:r>
          </a:p>
          <a:p>
            <a:pPr marL="0" indent="0">
              <a:buNone/>
            </a:pPr>
            <a:r>
              <a:rPr lang="en-US" sz="1500" dirty="0"/>
              <a:t>• SIP investments showed consistent growth.</a:t>
            </a:r>
          </a:p>
          <a:p>
            <a:pPr marL="0" indent="0">
              <a:buNone/>
            </a:pPr>
            <a:r>
              <a:rPr lang="en-US" sz="1500" dirty="0"/>
              <a:t>• Several funds outperformed benchmarks.</a:t>
            </a:r>
          </a:p>
          <a:p>
            <a:pPr marL="0" indent="0">
              <a:buNone/>
            </a:pPr>
            <a:r>
              <a:rPr lang="en-US" sz="1500" dirty="0"/>
              <a:t>• Dashboard visualizations simplified analysis.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8951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AC24-03EA-C2ED-C592-265BD141E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latin typeface="+mn-lt"/>
              </a:rPr>
              <a:t>                   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04CD3-A482-18F0-B8AC-CD738FA7A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4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Rakesh Banoth</a:t>
            </a:r>
          </a:p>
          <a:p>
            <a:pPr marL="0" indent="0">
              <a:buNone/>
            </a:pPr>
            <a:r>
              <a:rPr lang="en-US" dirty="0" err="1"/>
              <a:t>Bluestock</a:t>
            </a:r>
            <a:r>
              <a:rPr lang="en-US" dirty="0"/>
              <a:t> Mutual Fund Analytics Capstone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187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BLUESTOCK MUTUAL FUND ANALYTICS CAPSTONE</vt:lpstr>
      <vt:lpstr>Problem Statement &amp; Objectives</vt:lpstr>
      <vt:lpstr>Data Sources</vt:lpstr>
      <vt:lpstr>ETL Architecture</vt:lpstr>
      <vt:lpstr>EDA Highlights - Industry Overview</vt:lpstr>
      <vt:lpstr>EDA Highlights - Investor Analytics</vt:lpstr>
      <vt:lpstr>Performance Analysis</vt:lpstr>
      <vt:lpstr>Risk Analysis - Sharpe Ratio, VaR &amp; CVaR</vt:lpstr>
      <vt:lpstr>Power BI Dashboard Overview</vt:lpstr>
      <vt:lpstr>Dashboard Analytics</vt:lpstr>
      <vt:lpstr>Key Findings</vt:lpstr>
      <vt:lpstr>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banoth rakesh</dc:creator>
  <cp:lastModifiedBy>banoth rakesh</cp:lastModifiedBy>
  <cp:revision>2</cp:revision>
  <dcterms:created xsi:type="dcterms:W3CDTF">2026-06-11T08:25:43Z</dcterms:created>
  <dcterms:modified xsi:type="dcterms:W3CDTF">2026-06-11T09:14:21Z</dcterms:modified>
</cp:coreProperties>
</file>